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</c:v>
                </c:pt>
              </c:strCache>
            </c:strRef>
          </c:tx>
          <c:spPr>
            <a:solidFill>
              <a:srgbClr val="3E46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7EAE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46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492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Mes promedio</c:v>
                  </c:pt>
                  <c:pt idx="1">
                    <c:v>Diciembre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E7EAE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7EA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0624"/>
            <a:ext cx="16916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554480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23 de diciembre.
</a:t>
            </a:r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 tres avisos de siniestro por minuto.
</a:t>
            </a:r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Diana </a:t>
            </a:r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dos manos.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0292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historia sobre por qué las personas no deberían pasar el día transcribiendo datos.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es Diana. Es el volumen.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529840" cy="237744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37360"/>
            <a:ext cx="2529840" cy="54864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975104"/>
            <a:ext cx="2127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22376" y="2743200"/>
            <a:ext cx="2127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billones COP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" y="3054096"/>
            <a:ext cx="21092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siniestros pagados por las aseguradoras del país en 2025 (+8% vs. 2024).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3803904"/>
            <a:ext cx="2127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Fasecolda,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07080" y="1737360"/>
            <a:ext cx="2529840" cy="237744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7080" y="1737360"/>
            <a:ext cx="2529840" cy="54864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8248" y="1975104"/>
            <a:ext cx="2127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26536" y="2743200"/>
            <a:ext cx="2127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reclamaciones/año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6536" y="3054096"/>
            <a:ext cx="21092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que reciben las aseguradoras del país cada año.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26536" y="3803904"/>
            <a:ext cx="2127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Fasecolda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11240" y="1737360"/>
            <a:ext cx="2529840" cy="237744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1240" y="1737360"/>
            <a:ext cx="2529840" cy="54864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2408" y="1975104"/>
            <a:ext cx="2127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30696" y="2743200"/>
            <a:ext cx="2127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diciembre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0696" y="3054096"/>
            <a:ext cx="21092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la accidentalidad vial — y otra vez en cada puente festivo.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30696" y="3803904"/>
            <a:ext cx="2127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ACIS / Mintransporte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llegan repartidos. Llegan casi todos el mismo día.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3977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Diciembre, Semana Santa, los puentes, los domingos. La siniestralidad no es una línea plana: es una montaña rusa. Cuando sube la ola, el analista se ahoga — y los tiempos de respuesta se disparan justo cuando más importan.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3977640" cy="96012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520440"/>
            <a:ext cx="54864" cy="96012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39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8.266 </a:t>
            </a:r>
            <a:pPr indent="0" marL="0">
              <a:buNone/>
            </a:pPr>
            <a:r>
              <a:rPr lang="en-US" sz="14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muertes viales en 2024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041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9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+44% sobre el promedio de 5 años · ANSV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8348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 DE ACCIDENTALIDAD · MES PROM. = 100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92040" y="1920240"/>
          <a:ext cx="3749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Conozcamos a Diana.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analista de admisión en una aseguradora. Su día empieza con la bandeja llena. Un correo dice: </a:t>
            </a:r>
            <a:pPr algn="l"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«choqué el carro, la póliza es POL-1001, creo que son unos 5 millones».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Ni fechas exactas, ni placa clara, ni cifras confiables.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1883664" cy="86868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280720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304495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 los datos a mano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2697480"/>
            <a:ext cx="1883664" cy="86868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80720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304495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la póliza campo por campo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2584" y="2697480"/>
            <a:ext cx="1883664" cy="86868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80720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304495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la cobertura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57416" y="2697480"/>
            <a:ext cx="1883664" cy="86868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80720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304495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 oler el fraude sin tiempo para mirar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“Quítame la transcripción mecánica. No me quites el criterio ni el control.”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77824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822960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el caso ya estuviera armado cuando Diana lo abre?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Perito 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decide por ella. Le entrega el caso ya estructurado, con cada dato enlazado a su origen y un dictamen de cobertura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calculado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 el deducible y la cláusula citada.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3383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revisa. Ella firma.  </a:t>
            </a:r>
            <a:pPr indent="0" marL="0">
              <a:buNone/>
            </a:pPr>
            <a:r>
              <a:rPr lang="en-US" sz="19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segundos, no en minutos.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Mejor te lo muestro.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EN VIVO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4114800" cy="2340864"/>
          </a:xfrm>
          <a:prstGeom prst="rect">
            <a:avLst/>
          </a:prstGeom>
          <a:solidFill>
            <a:srgbClr val="101216"/>
          </a:solidFill>
          <a:ln w="19050">
            <a:solidFill>
              <a:srgbClr val="F2492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27432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983480" y="21579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40680" y="21579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bandeja se llena sola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los correos de siniestro llegan a Gmail y se procesan solos.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83480" y="27340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40680" y="273405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Abrimos un caso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 ve qué hizo cada agente, con la evidencia enlazada.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83480" y="33101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33101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dictamen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CUBIERTO, deducible calculado y la cláusula citada.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83480" y="3886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Diana revisa y firma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 ~40 s. El humano tiene la última palabra.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Detrás, el caso pasa por una posta de agentes.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77824" y="2569464"/>
            <a:ext cx="7388352" cy="0"/>
          </a:xfrm>
          <a:prstGeom prst="line">
            <a:avLst/>
          </a:prstGeom>
          <a:noFill/>
          <a:ln w="19050">
            <a:solidFill>
              <a:srgbClr val="2E37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2E3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7744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cliente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71472" y="2331720"/>
            <a:ext cx="475488" cy="47548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2E3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1472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9136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69136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2864" y="2331720"/>
            <a:ext cx="475488" cy="47548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2E3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2864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00528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00528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34256" y="2331720"/>
            <a:ext cx="475488" cy="47548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2E3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Póliza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65648" y="2331720"/>
            <a:ext cx="475488" cy="47548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2E37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65648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3312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63312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R1–R5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97040" y="2331720"/>
            <a:ext cx="475488" cy="47548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2E37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7040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94704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94704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señales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28432" y="2331720"/>
            <a:ext cx="475488" cy="475488"/>
          </a:xfrm>
          <a:prstGeom prst="ellipse">
            <a:avLst/>
          </a:prstGeom>
          <a:solidFill>
            <a:srgbClr val="F2492F"/>
          </a:solidFill>
          <a:ln w="19050">
            <a:solidFill>
              <a:srgbClr val="F249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26096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26096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firmar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3931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texto del correo y enlaza cada campo a su origen. Los PDF y las fotos se cargan y quedan adjuntos al caso — su análisis automático es el siguiente paso, no esta versión.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reglas que el sistema no puede romper.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29840" cy="2542032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2880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2423160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humano firma, siempre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" y="2971800"/>
            <a:ext cx="20543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Perito propone y prepara. Nunca cierra ni aprueba un caso solo: la última palabra es humana.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07080" y="1554480"/>
            <a:ext cx="2529840" cy="2542032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112" y="182880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3112" y="2423160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cobertura la deciden reglas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63112" y="2971800"/>
            <a:ext cx="20543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 determinístico dictamina y cita la cláusula. La IA solo llena los campos.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11240" y="1554480"/>
            <a:ext cx="2529840" cy="2542032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272" y="182880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67272" y="2423160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personales, protegidos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67272" y="2971800"/>
            <a:ext cx="20543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Cédula, teléfono y correo se redactan antes de tocar el modelo. Habeas Data (Ley 1581).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2920" y="42245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7% de las aseguradoras logra escalar IA: </a:t>
            </a:r>
            <a:pPr algn="l" indent="0" marL="0">
              <a:buNone/>
            </a:pPr>
            <a:r>
              <a:rPr lang="en-US" sz="11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freno es la confianza, no el modelo. (BCG 2025)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48640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escribí este código a mano.</a:t>
            </a:r>
            <a:endParaRPr lang="en-US" sz="2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Tampoco dejé que la IA lo escribiera sola.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6642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66420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Definí el qué.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metodología (AI-DLC): requisitos, historias de usuario y unidades de trabajo antes de una línea de código.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7860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Orquesté el cómo con un harness.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usé OpenSymphony para coordinar agentes: cada uno revisaba, validaba y abría su pull request en un espacio aislado. Yo aprobaba antes de integrar.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930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49300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Repartí por costo.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barato extrae, uno intermedio hace el grueso, el más potente solo entra en lo ambiguo.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2560320" cy="219456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737360"/>
            <a:ext cx="54864" cy="219456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LECCIÓN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36792" y="22402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i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agente decía «listo, verificado» sin verificar. La barrera real no fue escribir el código: fue revisarlo.”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resultado?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41064" cy="1207008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72768"/>
            <a:ext cx="54864" cy="1207008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82496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USD 0,02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8096" y="2194560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procesar 4–5 casos de punta a punta con IA real (~1 centavo por correo).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0016" y="1572768"/>
            <a:ext cx="3941064" cy="1207008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1572768"/>
            <a:ext cx="54864" cy="1207008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682496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65192" y="2194560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dictámenes de cobertura citan la cláusula exacta que aplicaron.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3941064" cy="1207008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54864" cy="1207008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090672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 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68096" y="3602736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tarda el analista en revisar y firmar un caso que ya llega armado.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0016" y="2980944"/>
            <a:ext cx="3941064" cy="1207008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2980944"/>
            <a:ext cx="54864" cy="1207008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090672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65192" y="3602736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infinitos: la terminación siempre está acotada (frameworks así se cuelgan el 33,8%).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Métricas medidas en la demo real. No prometo ahorros de tiempo que no haya validado.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costaría construir esto en una fábrica de software?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31920" cy="214884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9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FÁBRICA DE SOFTWARE (estimado)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" y="2240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USD 80.000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58952" y="2862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$320 millones COP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32644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personas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3–4 meses  ·  ~2.000 horas  ·  tarifa mixta ≈ USD 40/h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3931920" cy="2148840"/>
          </a:xfrm>
          <a:prstGeom prst="rect">
            <a:avLst/>
          </a:prstGeom>
          <a:solidFill>
            <a:srgbClr val="2A1512"/>
          </a:solidFill>
          <a:ln w="19050">
            <a:solidFill>
              <a:srgbClr val="F24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TOMÓ AQUÍ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65192" y="2240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horas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65192" y="2862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días · 6 h/día · 1 persona + 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5192" y="32644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modelo e infraestructura: </a:t>
            </a:r>
            <a:pPr indent="0" marL="0">
              <a:buNone/>
            </a:pPr>
            <a:r>
              <a:rPr lang="en-US" sz="12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centavos.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~16× menos horas.  </a:t>
            </a:r>
            <a:pPr algn="ctr" indent="0" marL="0">
              <a:buNone/>
            </a:pPr>
            <a:r>
              <a:rPr lang="en-US" sz="18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en vez de meses.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Estimación ilustrativa · supuestos: alcance MVP comparable, tarifa de agencia LATAM, USD ≈ 4.000 COP.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 HAY DETRÁS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obsesionan los procesos repetitivos que aburren a la gente.
</a:t>
            </a:r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Busco, con tecnología, que las empresas ganen tiempo y dinero — y que las personas dejen de copiar y pegar datos para dedicarse a lo que </a:t>
            </a:r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verdad rinde.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91440" cy="9144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566928"/>
            <a:ext cx="7918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sigue no es un roadmap de cinco años.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051560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051560"/>
          </a:xfrm>
          <a:prstGeom prst="rect">
            <a:avLst/>
          </a:prstGeom>
          <a:solidFill>
            <a:srgbClr val="F2492F"/>
          </a:solidFill>
          <a:ln w="12700">
            <a:solidFill>
              <a:srgbClr val="F24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PASO CONCRETO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Perito al correo real de una aseguradora y correr un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dos semanas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pasar de casos sintéticos a reales y medir cuánto acelera el triage.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A9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HACIA DÓNDE CRECE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62656"/>
            <a:ext cx="3931920" cy="1517904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a la medida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3529584"/>
            <a:ext cx="3456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Paneles con lo que cada aseguradora necesita medir: costo por caso, % escalado, tiempos por ramo.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962656"/>
            <a:ext cx="3931920" cy="1517904"/>
          </a:xfrm>
          <a:prstGeom prst="rect">
            <a:avLst/>
          </a:prstGeom>
          <a:solidFill>
            <a:srgbClr val="161B24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del historial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65192" y="3529584"/>
            <a:ext cx="3456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4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Perito señala a quienes se siniestran de forma recurrente: insumo para suscribir y renovar mejor. Sugiere; decide el humano.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6916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783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Perito no reemplaza al analista.
</a:t>
            </a:r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2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devuelve el criterio.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02920" y="3977640"/>
            <a:ext cx="2011680" cy="0"/>
          </a:xfrm>
          <a:prstGeom prst="line">
            <a:avLst/>
          </a:prstGeom>
          <a:noFill/>
          <a:ln w="25400">
            <a:solidFill>
              <a:srgbClr val="F2492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  </a:t>
            </a:r>
            <a:pPr indent="0" marL="0">
              <a:buNone/>
            </a:pPr>
            <a:r>
              <a:rPr lang="en-US" sz="1400" dirty="0">
                <a:solidFill>
                  <a:srgbClr val="94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Mauricio Cajamarca  ·  lmauriciocajamarca@gmail.com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718304"/>
            <a:ext cx="8138160" cy="0"/>
          </a:xfrm>
          <a:prstGeom prst="line">
            <a:avLst/>
          </a:prstGeom>
          <a:noFill/>
          <a:ln w="12700">
            <a:solidFill>
              <a:srgbClr val="2E37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DE SINIESTROS · IA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7266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2026-07-14T01:09:00Z</dcterms:created>
  <dcterms:modified xsi:type="dcterms:W3CDTF">2026-07-14T01:09:00Z</dcterms:modified>
</cp:coreProperties>
</file>